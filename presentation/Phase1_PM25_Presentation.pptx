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MAE</c:v>
                  </c:pt>
                  <c:pt idx="1">
                    <c:v>RMSE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11.93</c:v>
                </c:pt>
                <c:pt idx="1">
                  <c:v>22.03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MAE</c:v>
                  </c:pt>
                  <c:pt idx="1">
                    <c:v>RMSE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10.96</c:v>
                </c:pt>
                <c:pt idx="1">
                  <c:v>19.96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DD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0–35</c:v>
                  </c:pt>
                  <c:pt idx="1">
                    <c:v>35–75</c:v>
                  </c:pt>
                  <c:pt idx="2">
                    <c:v>75–150</c:v>
                  </c:pt>
                  <c:pt idx="3">
                    <c:v>150–250</c:v>
                  </c:pt>
                  <c:pt idx="4">
                    <c:v>&gt;250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12.08</c:v>
                </c:pt>
                <c:pt idx="1">
                  <c:v>18.9</c:v>
                </c:pt>
                <c:pt idx="2">
                  <c:v>20.23</c:v>
                </c:pt>
                <c:pt idx="3">
                  <c:v>30.46</c:v>
                </c:pt>
                <c:pt idx="4">
                  <c:v>41.56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0–35</c:v>
                  </c:pt>
                  <c:pt idx="1">
                    <c:v>35–75</c:v>
                  </c:pt>
                  <c:pt idx="2">
                    <c:v>75–150</c:v>
                  </c:pt>
                  <c:pt idx="3">
                    <c:v>150–250</c:v>
                  </c:pt>
                  <c:pt idx="4">
                    <c:v>&gt;250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10.47</c:v>
                </c:pt>
                <c:pt idx="1">
                  <c:v>15.66</c:v>
                </c:pt>
                <c:pt idx="2">
                  <c:v>18.1</c:v>
                </c:pt>
                <c:pt idx="3">
                  <c:v>26.01</c:v>
                </c:pt>
                <c:pt idx="4">
                  <c:v>42.04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775"/>
                    </a:solidFill>
                    <a:latin typeface="+mn-lt"/>
                  </a:rPr>
                  <a:t>True PM2.5 band (µg/m³)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DD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775"/>
                    </a:solidFill>
                    <a:latin typeface="+mn-lt"/>
                  </a:rPr>
                  <a:t>RMSE (µg/m³)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64748B"/>
            </a:solidFill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17.33</c:v>
                </c:pt>
                <c:pt idx="1">
                  <c:v>14.42</c:v>
                </c:pt>
                <c:pt idx="2">
                  <c:v>12.66</c:v>
                </c:pt>
                <c:pt idx="3">
                  <c:v>12.61</c:v>
                </c:pt>
                <c:pt idx="4">
                  <c:v>10.79</c:v>
                </c:pt>
                <c:pt idx="5">
                  <c:v>9.31</c:v>
                </c:pt>
                <c:pt idx="6">
                  <c:v>9.7</c:v>
                </c:pt>
                <c:pt idx="7">
                  <c:v>9.48</c:v>
                </c:pt>
                <c:pt idx="8">
                  <c:v>9.31</c:v>
                </c:pt>
                <c:pt idx="9">
                  <c:v>11.39</c:v>
                </c:pt>
                <c:pt idx="10">
                  <c:v>13.49</c:v>
                </c:pt>
                <c:pt idx="11">
                  <c:v>12.76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F766E"/>
            </a:solidFill>
            <a:ln w="3175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16.39</c:v>
                </c:pt>
                <c:pt idx="1">
                  <c:v>13.74</c:v>
                </c:pt>
                <c:pt idx="2">
                  <c:v>11.21</c:v>
                </c:pt>
                <c:pt idx="3">
                  <c:v>11.49</c:v>
                </c:pt>
                <c:pt idx="4">
                  <c:v>10.32</c:v>
                </c:pt>
                <c:pt idx="5">
                  <c:v>8.69</c:v>
                </c:pt>
                <c:pt idx="6">
                  <c:v>8.99</c:v>
                </c:pt>
                <c:pt idx="7">
                  <c:v>8.73</c:v>
                </c:pt>
                <c:pt idx="8">
                  <c:v>8.37</c:v>
                </c:pt>
                <c:pt idx="9">
                  <c:v>9.84</c:v>
                </c:pt>
                <c:pt idx="10">
                  <c:v>12.13</c:v>
                </c:pt>
                <c:pt idx="11">
                  <c:v>11.75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6"/>
        </c:scaling>
        <c:delete val="0"/>
        <c:axPos val="l"/>
        <c:majorGridlines>
          <c:spPr>
            <a:ln w="12700" cap="flat">
              <a:solidFill>
                <a:srgbClr val="DD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7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775"/>
                    </a:solidFill>
                    <a:latin typeface="+mn-lt"/>
                  </a:rPr>
                  <a:t>MAE (µg/m³)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in one line: Phase 1, machine-learning only — forecast PM2.5 one hour ahead for Beijing, evaluated honestly against strong naive baselines. Deep learning (LSTM/hybrid) is Phase 2 and deliberately NOT part of this evaluation. Team T051, Advance Machine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stakes before the method. PM2.5 has the clearest health burden; Beijing is an extreme, well-studied case. The right figure is real data from our set — the Jan-2013 episode peaks near 900 µg/m³ vs a WHO 24-h guideline of 15. One hour ahead is the shortest, most actionable, and hardest-to-beat horizon (the last value is already a strong guess), so it is an honest test of whether ML adds value. Q 'why not forecast further ahead?' — longer horizons need future weather we don't have at issue time; we restrict inputs to information available at hour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 as a testable claim: can a learned model beat naive baselines at t+1 under honest evaluation? The right-hand cards draw the Phase 1 / Phase 2 boundary — we did NOT implement an LSTM; mentioning it is scoping, not a claim. Q 'why beating a baseline rather than high R²?' — R² can look excellent while adding nothing over persistence; the baseline is the bar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cards give the data's shape in 20 seconds; the three white chips are our quality pipeline condensed. Two defensible decisions: (1) no imputation of the target or its lags — imputing would leak/invent data; (2) no outlier deletion — the &gt;250 µg/m³ hours are genuine haze and operationally important. Provenance is pinned by a SHA-256 hash on every load. The figure shows the series (winter peaks) and that missingness is worse in 2010–12 than 2013–14 — relevant since validation/test are the cleaner later years. Wind decoding: raw 'Iws' is cumulative since the direction last changed, so we difference within a run to recover hourly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plot to a decision. Raw histogram is heavily right-skewed; the log version is near-symmetric → we report MAE (tail-robust) and test a log target. ACF decays slowly but PACF spikes only at lag 1 → near-AR(1). Consequence: 'tomorrow ≈ today' (persistence) is hard to beat, and recent PM2.5 lags carry most signal — the feature-importance results confirm this. Seasonality: a clear daily cycle and larger winter spread (the mean shifts less than the variance), which motivates the calendar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37 leakage-safe features (17 PM-history + 15 weather + 5 calendar = 37, verified in features.py), and the importance plot shows which actually drive predictions. PM history encodes the AR dynamics; weather the physical drivers; calendar the cycles — and calendar features describe the TARGET hour t+1, which is legitimate because you always know the next hour/month. Permutation importance (left, on validation = real predictive value) ranks pm_lag0 and wind_speed highest; gain importance (right, on training) agrees on wind and recent PM2.5. Full 37-name list and definitions are in features.py; we also ran a future-perturbation leakage test that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methodological heart — slow down here. Leakage = using information not available at prediction time. Prevented three ways: (1) target-hour split assignment (a 2012 input predicting into 2013 is not training data); (2) chronological expanding windows (never shuffle); (3) a common evaluation mask so every model is judged on the same hours. Timeline: blue train 2010–12, orange validation 2013 (4 quarterly folds), green test 2014 (12 monthly refits). Crucial: 2014 is touched once, after freezing the config on 2013. We also confirmed a fixed-origin variant gives near-identical results (MAE 10.98 vs 10.96).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Baselines are the thing to beat, not filler. Persistence (carry last value) is strong because of AR(1); seasonal-naive (same hour yesterday) tests a pure daily cycle and fails badly. XGBoost = ensemble of gradient-boosted regression trees — NOT deep learning. The 'change'/delta target: trees are piecewise-constant, so learning Δ beats re-deriving 'copy pm(t)' (delta RMSE 21.8 vs level 23.8, log 24.3, on 2013 validation). Metrics: MAE (headline, tail-robust), RMSE (big-miss sensitive, the haze hours), R² (context; easy to inflate on autocorrelated data). Common eval = 8,531 identical hours; Diebold–Mariano uses a Newey–West autocorrelation-robust variance. Full selected config: delta, max_depth 6, lr 0.02, 800 trees, min_child_weight 10, subsample 0.85, colsample_bytree 0.6, reg_lambda 5 — all tuned only on 2013, never 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slide. Seasonal-naive is dramatically worse (MAE 67, negative R²) — a daily cycle alone does not forecast next-hour PM2.5. The real contest is persistence vs XGBoost, and XGBoost wins on every metric: −8.1% MAE, −9.4% RMSE. Honesty note: the bar chart omits seasonal-naive on purpose — its RMSE ~99 would flatten the 22-vs-20 bars and HIDE the real result (a misleading scale); it stays in the table. On a near-AR(1) series an 8–9% consistent beat is a meaningful, hard-won gain — and the next slides show it is consistent and significant. The 'change' target won over level/log formulations on validation (RMSE 21.8 vs 23.8/24.3).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Proves we understand the model's behavior, not just its average. Binned by true PM2.5: XGBoost's RMSE is clearly below persistence in every band up to 250 (10–15% lower). In the &gt;250 band the bars cross (41.6 vs 42.0) and the bias turns strongly negative (mean predicted − true ≈ −12.8), i.e. it under-predicts the worst peaks, because boosted trees regress rare extreme values toward typical ones. We report this openly — it directly motivates Phase 2. Fix options (future work): quantile/asymmetric loss, a tail-specialized model, or exogenous forecast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checks, all agreeing. (1) XGBoost (teal) is below persistence (slate) in all twelve months — not one lucky season. (2) Diebold–Mariano p = 3.4e-7 on squared loss — we reject 'equal accuracy' overwhelmingly. (3) Stability: five seeds move RMSE &lt; 0.1 µg/m³, and a fixed-origin train (2010–13) gives essentially the same MAE as monthly refit (10.98 vs 10.96). Honesty caveat: in a simulation with autocorrelated errors the DM test mildly over-rejected (~8% at nominal 5%), so we treat the p-value as strong but approximate — still far below any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limitations — it signals maturity: the extreme-tail gap, single-station/single-year scope, observed-weather-only inputs, minor cumulative-field artifacts, and the approximate DM p-value. Then future work — and the critical scoping statement: the LSTM/hybrid line is Phase 2 and NOT implemented; we are not presenting planned work as done. The tail-aware loss idea ties back to the error-analysis failure mode, so the roadmap is evidence-driven.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findings and conclusion. Four evidence-backed claims, each mapping to an earlier slide: XGBoost wins; the win is trustworthy (consistency + significance + stability); the signal is recent PM2.5 and wind (AR + physics); the limits are at the extremes. Close on the contribution — a reproducible, rigorously validated ML benchmark that Phase 2's deep learning must clear. Invite questions; speaker notes carry the deeper detail (hyperparameters, full error table, DM table).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Concise reference list — the ten sources actually cited across the deck's problem framing, methods and evaluation. Full bibliography (incl. the LSTM Phase-2 references) is in report/references.bib.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MACHINE LEARNING 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92024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Urban Air Quality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7432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One-Hour-Ahead PM2.5 Prediction for Beijing — a Leakage-Controlled Study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292608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36118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T051</a:t>
            </a:r>
            <a:pPr indent="0" marL="0">
              <a:buNone/>
            </a:pPr>
            <a:r>
              <a:rPr lang="en-US" sz="1500" dirty="0">
                <a:solidFill>
                  <a:srgbClr val="7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Advance Machine Learning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114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Animesh Kumar Rai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2401010069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7183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Rishiwant Kumar Maurya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2401020102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3218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Supreet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2401010465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4114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Shankar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2401010038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47183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Jha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2401010162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172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Beijing PM2.5 (2010–2014, 43,824 hourly records)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forecast PM2.5 one hour ahead?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— airborne particles &lt; 2.5 µm — penetrates deep into the lungs and is a leading environmental health risk.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suffers severe haze episodes: hourly PM2.5 reached ~900 µg/m³ in January 2013 (right).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 2021 guideline for 24-h mean PM2.5 is 15 µg/m³ — episode peaks exceed it by more than an order of magnitude.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next-hour forecast supports exposure avoidance, public alerts and operational decisions.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800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9560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~900</a:t>
            </a:r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</a:rPr>
              <a:t> µg/m³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   peak hourly PM2.5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49560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</a:rPr>
              <a:t> µg/m³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   WHO 24-h guideline</a:t>
            </a:r>
            <a:endParaRPr lang="en-US" sz="3200" dirty="0"/>
          </a:p>
        </p:txBody>
      </p:sp>
      <p:pic>
        <p:nvPicPr>
          <p:cNvPr id="8" name="Image 0" descr="/private/tmp/claude-501/-Users-supreet--Desktop-Air-Quality-Prediction/91e2f668-a163-4486-a87a-3d9c68645d54/scratchpad/deck/assets/eda_03_episode_jan20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828800"/>
            <a:ext cx="5486400" cy="32918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30936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PM2.5, Jan 2013 haze episode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predict PM2.5 at hour t+1 and test whether a learned model beats strong naive baselines under a leakage-free protocol.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informative, leakage-safe feature set from history and weather.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tune XGBoost; compare fairly on identical evaluation hours.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results statistically, not just by a single metric.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41732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73952" y="1527048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 — Phase 1 (ML)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874520"/>
            <a:ext cx="5065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EDA, feature engineering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seasonal-naive baselines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(gradient-boosted trees)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backtesting + significance tests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342900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3538728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7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Deferred to Phase 2 (DL)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3886200"/>
            <a:ext cx="5065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sequence models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+ DL approaches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(Mentioned here only as future work — not implemented)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5815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02589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a disciplined ML study; deep learning is explicitly out of scope and reserved for Phase 2.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Beijing PM2.5 — hourly, five years, validated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15184" cy="868680"/>
          </a:xfrm>
          <a:prstGeom prst="roundRect">
            <a:avLst>
              <a:gd name="adj" fmla="val 6316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2646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43,824</a:t>
            </a:r>
            <a:endParaRPr lang="en-US" sz="2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hourly records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46120" y="1371600"/>
            <a:ext cx="2615184" cy="868680"/>
          </a:xfrm>
          <a:prstGeom prst="roundRect">
            <a:avLst>
              <a:gd name="adj" fmla="val 6316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42646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2010–2014</a:t>
            </a:r>
            <a:endParaRPr lang="en-US" sz="2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full years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89320" y="1371600"/>
            <a:ext cx="2615184" cy="868680"/>
          </a:xfrm>
          <a:prstGeom prst="roundRect">
            <a:avLst>
              <a:gd name="adj" fmla="val 6316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42646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+ 1</a:t>
            </a:r>
            <a:endParaRPr lang="en-US" sz="2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inputs + target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732520" y="1371600"/>
            <a:ext cx="2615184" cy="868680"/>
          </a:xfrm>
          <a:prstGeom prst="roundRect">
            <a:avLst>
              <a:gd name="adj" fmla="val 6316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0" y="1426464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4.7%</a:t>
            </a:r>
            <a:endParaRPr lang="en-US" sz="2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PM2.5 missing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423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PM2.5 (µg/m³, US Embassy). Inputs: dew point, temperature, pressure, wind direction, cumulative wind speed, snow &amp; rain hours (Capital Airport).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PM2.5 is concentrated in 2010–2012 and left as NaN — never silently imputed.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" y="42062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4498848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checked on every load; gap-free hourly index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411480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87168" y="42062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imputation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487168" y="4498848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gaps left NaN — no leaked/invented values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4114800"/>
            <a:ext cx="1737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61688" y="42062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+ decoded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361688" y="4498848"/>
            <a:ext cx="15179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invariants asserted; cumulative wind → hourly speed</a:t>
            </a:r>
            <a:endParaRPr lang="en-US" sz="1000" dirty="0"/>
          </a:p>
        </p:txBody>
      </p:sp>
      <p:pic>
        <p:nvPicPr>
          <p:cNvPr id="22" name="Image 0" descr="/private/tmp/claude-501/-Users-supreet--Desktop-Air-Quality-Prediction/91e2f668-a163-4486-a87a-3d9c68645d54/scratchpad/deck/assets/eda_02_timeseries_missingn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2423160"/>
            <a:ext cx="5486400" cy="274320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30936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series and monthly missingness — note winter peaks and heavier early-year gaps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PM2.5 is heavy-tailed and strongly autocorrelated</a:t>
            </a:r>
            <a:endParaRPr lang="en-US" sz="2600" dirty="0"/>
          </a:p>
        </p:txBody>
      </p:sp>
      <p:pic>
        <p:nvPicPr>
          <p:cNvPr id="4" name="Image 0" descr="/private/tmp/claude-501/-Users-supreet--Desktop-Air-Quality-Prediction/91e2f668-a163-4486-a87a-3d9c68645d54/scratchpad/deck/assets/eda_01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5532120" cy="2148840"/>
          </a:xfrm>
          <a:prstGeom prst="rect">
            <a:avLst/>
          </a:prstGeom>
        </p:spPr>
      </p:pic>
      <p:pic>
        <p:nvPicPr>
          <p:cNvPr id="5" name="Image 1" descr="/private/tmp/claude-501/-Users-supreet--Desktop-Air-Quality-Prediction/91e2f668-a163-4486-a87a-3d9c68645d54/scratchpad/deck/assets/eda_06_acf_pac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3657600"/>
            <a:ext cx="5532120" cy="2103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146304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target: most hours low, long tail past 400–900 µg/m³ → motivates MAE alongside RMSE and a change-based target.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transform is far more symmetric — tested as a model variant.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decays slowly; PACF cuts off sharply after lag 1 → an AR(1)-like process.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persistence (carry the last value) is such a strong baseline, and why short PM2.5 lags are the most useful features.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cycle and higher winter variance are also present (drives calendar features).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5815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602589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near-AR(1) structure sets a high bar (persistence) and tells us lag features will carry most of the signal.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leakage-safe features — and which ones matter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54573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36192"/>
            <a:ext cx="182880" cy="1828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146304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PM2.5 history — 17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1901952"/>
            <a:ext cx="31434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t … t−23; rolling mean/std (3/6/12/24 h)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difference; hours since last obs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2978" y="1371600"/>
            <a:ext cx="354573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5858" y="1536192"/>
            <a:ext cx="182880" cy="18288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61890" y="146304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— 15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4146" y="1901952"/>
            <a:ext cx="31434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 point, temp, pressure, dew-point spread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wind speed/run; wind one-hots; snow/rain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3037" y="1371600"/>
            <a:ext cx="354573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5917" y="1536192"/>
            <a:ext cx="182880" cy="18288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81949" y="146304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— 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44205" y="1901952"/>
            <a:ext cx="31434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&amp; month (sin/cos), day of week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TARGET hour t+1 (known ahead)</a:t>
            </a:r>
            <a:endParaRPr lang="en-US" sz="1150" dirty="0"/>
          </a:p>
        </p:txBody>
      </p:sp>
      <p:pic>
        <p:nvPicPr>
          <p:cNvPr id="16" name="Image 0" descr="/private/tmp/claude-501/-Users-supreet--Desktop-Air-Quality-Prediction/91e2f668-a163-4486-a87a-3d9c68645d54/scratchpad/deck/assets/xgb_03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3200400"/>
            <a:ext cx="6675120" cy="23317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02920" y="55321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(validation) and gain importance (training)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329184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pm_lag0 and wind_speed dominate — matching the AR structure and the physics of dispersion.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rule: every input uses only hours ≤ t; calendar fields describe the known target hour.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measures predictive value, not causation.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protocol prevents leakage</a:t>
            </a:r>
            <a:endParaRPr lang="en-US" sz="2600" dirty="0"/>
          </a:p>
        </p:txBody>
      </p:sp>
      <p:pic>
        <p:nvPicPr>
          <p:cNvPr id="4" name="Image 0" descr="/private/tmp/claude-501/-Users-supreet--Desktop-Air-Quality-Prediction/91e2f668-a163-4486-a87a-3d9c68645d54/scratchpad/deck/assets/protocol_01_tim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17320"/>
            <a:ext cx="649224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223760" y="137160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y(t) = PM2.5(t+1); a sample belongs to the split of its target hour, so no training label sits inside validation/test.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whole years: train 2010–12, validate 2013, test 2014.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4 expanding-window quarterly folds in 2013.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12 monthly expanding refits in 2014, config frozen.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eval mask: all models scored on identical hours.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84048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shuffling or k-fold — that would train on the future and leak.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2014 test year is scored once, after freezing the config on 2013 — validation and test are never mixed.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815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02589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windows mimic real deployment: always predict forward, never look back from the future.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honest baselines, one learned model — scored fairly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54573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3545738" cy="502920"/>
          </a:xfrm>
          <a:prstGeom prst="roundRect">
            <a:avLst>
              <a:gd name="adj" fmla="val 10909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938528"/>
            <a:ext cx="321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12848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ŷ(t+1) = PM2.5(t)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last value; strong (near-AR(1))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978" y="1371600"/>
            <a:ext cx="354573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DD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2978" y="1371600"/>
            <a:ext cx="3545738" cy="502920"/>
          </a:xfrm>
          <a:prstGeom prst="roundRect">
            <a:avLst>
              <a:gd name="adj" fmla="val 10909"/>
            </a:avLst>
          </a:prstGeom>
          <a:solidFill>
            <a:srgbClr val="C277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0138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Seasonal-naive 24 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87570" y="1938528"/>
            <a:ext cx="321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27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05858" y="2212848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ŷ(t+1) = PM2.5(t+1−24)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hour yesterday; tests daily cycle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3037" y="1371600"/>
            <a:ext cx="3545738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DD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037" y="1371600"/>
            <a:ext cx="354573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80197" y="1371600"/>
            <a:ext cx="327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(change)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307629" y="1938528"/>
            <a:ext cx="32165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325917" y="2212848"/>
            <a:ext cx="3179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trees; learns Δ=PM2.5(t+1)−PM2.5(t)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weather × history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657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77640"/>
            <a:ext cx="3545738" cy="1005840"/>
          </a:xfrm>
          <a:prstGeom prst="roundRect">
            <a:avLst>
              <a:gd name="adj" fmla="val 545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40599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" y="4480560"/>
            <a:ext cx="321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|error| (µg/m³). Robust to the tail — headline metric.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2978" y="3977640"/>
            <a:ext cx="3545738" cy="1005840"/>
          </a:xfrm>
          <a:prstGeom prst="roundRect">
            <a:avLst>
              <a:gd name="adj" fmla="val 545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7570" y="40599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487570" y="4480560"/>
            <a:ext cx="321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misses — the extreme haze hours.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43037" y="3977640"/>
            <a:ext cx="3545738" cy="1005840"/>
          </a:xfrm>
          <a:prstGeom prst="roundRect">
            <a:avLst>
              <a:gd name="adj" fmla="val 545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7629" y="40599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307629" y="4480560"/>
            <a:ext cx="321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vs the mean — context only.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815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602589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scored on the same 8,531 hours (2014); significance checked by Diebold–Mariano. Selected XGBoost: change target, depth 6, lr 0.02, 800 trees (tuned on 2013).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TEST 2014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achieves the lowest test error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5577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Seasonal-naive (24 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(change)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429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1-hour-ahead PM2.5 (µg/m³), 8,531 common eval hours. Config frozen after 2013 tuning.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397764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−8.1%</a:t>
            </a:r>
            <a:endParaRPr lang="en-US" sz="26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MAE vs persistence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383280" y="397764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4114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−9.4%</a:t>
            </a:r>
            <a:endParaRPr lang="en-US" sz="26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</a:rPr>
              <a:t>RMSE vs persistence</a:t>
            </a:r>
            <a:endParaRPr lang="en-US" sz="2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09360" y="146304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309360" y="4983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vs XGBoost — seasonal-naive omitted for scale (RMSE ≈ 99)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5815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602589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beats persistence on both metrics; seasonal-naive is far worse, confirming a daily cycle alone is insufficient.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wins — and where it struggles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4630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largest at low–moderate levels (0–250): XGBoost cuts RMSE by 10–15%.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most extreme hours (&gt;250 µg/m³) XGBoost does NOT beat persistence (42.0 vs 41.6) and under-predicts them (bias ≈ −13).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interpolate within seen patterns, so they smooth sudden, sharp spikes.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implication: the model helps most in the common regime, least in rare crisis peaks.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815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602589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XGBoost's advantage is real across the bulk of the distribution but vanishes at the extreme tail — a limitation we report openly.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&amp; STATISTICAL VALIDATION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improvement is consistent and significant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6675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0292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MAE across the 2014 test year (12 expanding refits)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06640" y="1463040"/>
            <a:ext cx="4297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71232" y="1572768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12 months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71232" y="192024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has the lower MAE in every month of 2014 — not one lucky period.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06640" y="2697480"/>
            <a:ext cx="4297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71232" y="2807208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Diebold–Mariano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571232" y="315468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persistence: p = 3.4×10⁻⁷ (squared) — statistically significant.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06640" y="3931920"/>
            <a:ext cx="4297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71232" y="4041648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571232" y="4389120"/>
            <a:ext cx="3968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seeds: RMSE varies &lt; 0.1 µg/m³.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Fixed-origin vs refit: 10.98 vs 10.96 MAE.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5815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602589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every month, significant by Diebold–Mariano (p ≈ 3×10⁻⁷), and stable across seeds and refit scheme — the result is reliable.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not yet claim — and what comes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72768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920240"/>
            <a:ext cx="51572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hours (&gt;250 µg/m³): no gain over persistence; peaks under-predicted.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station, single test year — generalization untested elsewhere.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use observed weather only — no weather forecasts at issue time.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wind/snow/rain fields have a few skipped increments.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Diebold–Mariano p-values are strong but approximate (mild over-rejection).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572768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920240"/>
            <a:ext cx="50657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LSTM / sequence models to track sharp dynamics (not yet implemented).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+ DL where technically justified.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Tail-aware objectives (quantile / asymmetric loss) for extreme peaks.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Multi-station data and longer out-of-sample periods.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numerical weather-forecast inputs.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5760720"/>
            <a:ext cx="11185855" cy="621792"/>
          </a:xfrm>
          <a:prstGeom prst="roundRect">
            <a:avLst>
              <a:gd name="adj" fmla="val 11765"/>
            </a:avLst>
          </a:prstGeom>
          <a:solidFill>
            <a:srgbClr val="F2F5F8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815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025896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appears here only as a Phase 2 direction — in Phase 1 nothing beyond the ML pipeline above is claimed as done.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2412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validated ML model that beats a strong baseline — honestly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beats both baselines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874520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lower MAE and 9.4% lower RMSE than persistence on the 2014 test year; seasonal-naive is far behind.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70048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24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gain is trustworthy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624328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in all 12 test months, significant by Diebold–Mariano (p≈3×10⁻⁷), stable across seeds.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419856"/>
            <a:ext cx="457200" cy="457200"/>
          </a:xfrm>
          <a:prstGeom prst="ellipse">
            <a:avLst/>
          </a:prstGeom>
          <a:solidFill>
            <a:srgbClr val="C277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741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PM2.5 + wind drive 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374136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ranks pm(t) and hourly wind speed highest — matching the AR structure and physics.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169664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239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are at the extremes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123944"/>
            <a:ext cx="6751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gain above 250 µg/m³; the model smooths rare, sharp spikes — the clearest opening for Phase 2.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292608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51663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contribution: a reproducible, honestly evaluated ML benchmark that Phase 2 deep learning must beat.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7607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58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sources cited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1118585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Liang, X. et al. (2015). Assessing Beijing's PM2.5 pollution: severity, weather impact, APEC and winter heating. Proc. R. Soc. A, 471:20150257.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Chen, S. (2015). Beijing PM2.5 Data Set. UCI Machine Learning Repository. doi:10.24432/C5JS49.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Chen, T. &amp; Guestrin, C. (2016). XGBoost: A Scalable Tree Boosting System. ACM SIGKDD.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Friedman, J. (2001). Greedy function approximation: A gradient boosting machine. Annals of Statistics.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Diebold, F. &amp; Mariano, R. (1995). Comparing Predictive Accuracy. J. Business &amp; Economic Statistics.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Newey, W. &amp; West, K. (1987). A Simple, Positive Semi-Definite, HAC Covariance Matrix. Econometrica.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Tashman, L. (2000). Out-of-sample tests of forecasting accuracy: an analysis and review. Int. J. Forecasting.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Bergmeir, C. &amp; Benítez, J. (2012). On the use of cross-validation for time series predictor evaluation. Information Sciences.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Zhong, J. et al. (2021). Robust prediction of hourly PM2.5 from meteorological data using LightGBM.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WHO (2021). Global Air Quality Guidelines: PM2.5 and PM10, O₃, NO₂, SO₂, CO.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Forecasting  ·  Phase 1 (Machine Learning)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510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PM2.5 Forecasting — Phase 1 (Machine Learning)</dc:title>
  <dc:subject>PptxGenJS Presentation</dc:subject>
  <dc:creator>Phase 1 ML Project</dc:creator>
  <cp:lastModifiedBy>Phase 1 ML Project</cp:lastModifiedBy>
  <cp:revision>1</cp:revision>
  <dcterms:created xsi:type="dcterms:W3CDTF">2026-10-27T03:24:33Z</dcterms:created>
  <dcterms:modified xsi:type="dcterms:W3CDTF">2026-10-27T03:24:33Z</dcterms:modified>
</cp:coreProperties>
</file>